
<file path=[Content_Types].xml><?xml version="1.0" encoding="utf-8"?>
<Types xmlns="http://schemas.openxmlformats.org/package/2006/content-types">
  <Default ContentType="application/xml" Extension="xml"/>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0" Type="http://schemas.openxmlformats.org/officeDocument/2006/relationships/slide" Target="slides/slide5.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d6247e3bcd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d6247e3bcd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d6247e3bcd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d6247e3bcd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d6247e3bcd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d6247e3bcd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d6247e3bcd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d6247e3bcd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Open Ventures</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Requirements</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298450" lvl="0" marL="457200" rtl="0" algn="l">
              <a:spcBef>
                <a:spcPts val="0"/>
              </a:spcBef>
              <a:spcAft>
                <a:spcPts val="0"/>
              </a:spcAft>
              <a:buClr>
                <a:schemeClr val="dk1"/>
              </a:buClr>
              <a:buSzPts val="1100"/>
              <a:buAutoNum type="arabicPeriod"/>
            </a:pPr>
            <a:r>
              <a:rPr lang="en" sz="1100">
                <a:solidFill>
                  <a:schemeClr val="dk1"/>
                </a:solidFill>
              </a:rPr>
              <a:t>Output</a:t>
            </a:r>
            <a:endParaRPr sz="1100">
              <a:solidFill>
                <a:schemeClr val="dk1"/>
              </a:solidFill>
            </a:endParaRPr>
          </a:p>
          <a:p>
            <a:pPr indent="-298450" lvl="0" marL="457200" rtl="0" algn="l">
              <a:spcBef>
                <a:spcPts val="0"/>
              </a:spcBef>
              <a:spcAft>
                <a:spcPts val="0"/>
              </a:spcAft>
              <a:buClr>
                <a:schemeClr val="dk1"/>
              </a:buClr>
              <a:buSzPts val="1100"/>
              <a:buAutoNum type="arabicPeriod"/>
            </a:pPr>
            <a:r>
              <a:rPr lang="en" sz="1100">
                <a:solidFill>
                  <a:schemeClr val="dk1"/>
                </a:solidFill>
              </a:rPr>
              <a:t>Input</a:t>
            </a:r>
            <a:endParaRPr sz="1100">
              <a:solidFill>
                <a:schemeClr val="dk1"/>
              </a:solidFill>
            </a:endParaRPr>
          </a:p>
          <a:p>
            <a:pPr indent="-298450" lvl="0" marL="457200" rtl="0" algn="l">
              <a:spcBef>
                <a:spcPts val="0"/>
              </a:spcBef>
              <a:spcAft>
                <a:spcPts val="0"/>
              </a:spcAft>
              <a:buClr>
                <a:schemeClr val="dk1"/>
              </a:buClr>
              <a:buSzPts val="1100"/>
              <a:buAutoNum type="arabicPeriod"/>
            </a:pPr>
            <a:r>
              <a:rPr lang="en" sz="1100">
                <a:solidFill>
                  <a:schemeClr val="dk1"/>
                </a:solidFill>
              </a:rPr>
              <a:t>Initialization</a:t>
            </a:r>
            <a:endParaRPr sz="1100">
              <a:solidFill>
                <a:schemeClr val="dk1"/>
              </a:solidFill>
            </a:endParaRPr>
          </a:p>
          <a:p>
            <a:pPr indent="-298450" lvl="0" marL="457200" rtl="0" algn="l">
              <a:spcBef>
                <a:spcPts val="0"/>
              </a:spcBef>
              <a:spcAft>
                <a:spcPts val="0"/>
              </a:spcAft>
              <a:buClr>
                <a:schemeClr val="dk1"/>
              </a:buClr>
              <a:buSzPts val="1100"/>
              <a:buAutoNum type="arabicPeriod"/>
            </a:pPr>
            <a:r>
              <a:rPr lang="en" sz="1100">
                <a:solidFill>
                  <a:schemeClr val="dk1"/>
                </a:solidFill>
              </a:rPr>
              <a:t>Liabilities</a:t>
            </a:r>
            <a:endParaRPr sz="1100">
              <a:solidFill>
                <a:schemeClr val="dk1"/>
              </a:solidFill>
            </a:endParaRPr>
          </a:p>
          <a:p>
            <a:pPr indent="-298450" lvl="0" marL="457200" rtl="0" algn="l">
              <a:spcBef>
                <a:spcPts val="0"/>
              </a:spcBef>
              <a:spcAft>
                <a:spcPts val="0"/>
              </a:spcAft>
              <a:buClr>
                <a:schemeClr val="dk1"/>
              </a:buClr>
              <a:buSzPts val="1100"/>
              <a:buAutoNum type="arabicPeriod"/>
            </a:pPr>
            <a:r>
              <a:rPr lang="en" sz="1100">
                <a:solidFill>
                  <a:schemeClr val="dk1"/>
                </a:solidFill>
              </a:rPr>
              <a:t>Dissolution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2000"/>
              </a:spcBef>
              <a:spcAft>
                <a:spcPts val="600"/>
              </a:spcAft>
              <a:buClr>
                <a:schemeClr val="dk1"/>
              </a:buClr>
              <a:buSzPct val="55000"/>
              <a:buFont typeface="Arial"/>
              <a:buNone/>
            </a:pPr>
            <a:r>
              <a:rPr lang="en" sz="2000"/>
              <a:t>Output</a:t>
            </a:r>
            <a:endParaRPr/>
          </a:p>
        </p:txBody>
      </p:sp>
      <p:sp>
        <p:nvSpPr>
          <p:cNvPr id="67" name="Google Shape;67;p15"/>
          <p:cNvSpPr txBox="1"/>
          <p:nvPr>
            <p:ph idx="1" type="body"/>
          </p:nvPr>
        </p:nvSpPr>
        <p:spPr>
          <a:xfrm>
            <a:off x="311700" y="1189500"/>
            <a:ext cx="8520600" cy="3416400"/>
          </a:xfrm>
          <a:prstGeom prst="rect">
            <a:avLst/>
          </a:prstGeom>
        </p:spPr>
        <p:txBody>
          <a:bodyPr anchorCtr="0" anchor="t" bIns="91425" lIns="91425" spcFirstLastPara="1" rIns="91425" wrap="square" tIns="91425">
            <a:normAutofit/>
          </a:bodyPr>
          <a:lstStyle/>
          <a:p>
            <a:pPr indent="0" lvl="0" marL="0" rtl="0" algn="l">
              <a:spcBef>
                <a:spcPts val="2000"/>
              </a:spcBef>
              <a:spcAft>
                <a:spcPts val="0"/>
              </a:spcAft>
              <a:buClr>
                <a:schemeClr val="dk1"/>
              </a:buClr>
              <a:buSzPts val="1100"/>
              <a:buFont typeface="Arial"/>
              <a:buNone/>
            </a:pPr>
            <a:r>
              <a:t/>
            </a:r>
            <a:endParaRPr sz="2000">
              <a:solidFill>
                <a:schemeClr val="dk1"/>
              </a:solidFill>
            </a:endParaRPr>
          </a:p>
          <a:p>
            <a:pPr indent="0" lvl="0" marL="0" rtl="0" algn="l">
              <a:spcBef>
                <a:spcPts val="600"/>
              </a:spcBef>
              <a:spcAft>
                <a:spcPts val="0"/>
              </a:spcAft>
              <a:buNone/>
            </a:pPr>
            <a:r>
              <a:rPr lang="en" sz="1100">
                <a:solidFill>
                  <a:schemeClr val="dk1"/>
                </a:solidFill>
              </a:rPr>
              <a:t>What will the venture produce with each iteration? Is it repeatable, is it different each iteration. An iteration might be product based e.g. coffee mugs, or an iteration can be time based e.g. software development for 1 week.</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Clr>
                <a:schemeClr val="dk1"/>
              </a:buClr>
              <a:buSzPts val="1100"/>
              <a:buFont typeface="Arial"/>
              <a:buNone/>
            </a:pPr>
            <a:r>
              <a:rPr lang="en" sz="1100">
                <a:solidFill>
                  <a:schemeClr val="dk1"/>
                </a:solidFill>
              </a:rPr>
              <a:t>Iteration is a lifecycle or production</a:t>
            </a:r>
            <a:endParaRPr sz="11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67250"/>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2000"/>
              </a:spcBef>
              <a:spcAft>
                <a:spcPts val="600"/>
              </a:spcAft>
              <a:buClr>
                <a:schemeClr val="dk1"/>
              </a:buClr>
              <a:buSzPct val="55000"/>
              <a:buFont typeface="Arial"/>
              <a:buNone/>
            </a:pPr>
            <a:r>
              <a:rPr lang="en" sz="2000"/>
              <a:t>Input</a:t>
            </a:r>
            <a:endParaRPr/>
          </a:p>
        </p:txBody>
      </p:sp>
      <p:sp>
        <p:nvSpPr>
          <p:cNvPr id="73" name="Google Shape;7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100">
                <a:solidFill>
                  <a:schemeClr val="dk1"/>
                </a:solidFill>
              </a:rPr>
              <a:t>All the different items that contribute value to each iteration.</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spcBef>
                <a:spcPts val="0"/>
              </a:spcBef>
              <a:spcAft>
                <a:spcPts val="0"/>
              </a:spcAft>
              <a:buClr>
                <a:schemeClr val="dk1"/>
              </a:buClr>
              <a:buSzPts val="1100"/>
              <a:buFont typeface="Arial"/>
              <a:buNone/>
            </a:pPr>
            <a:r>
              <a:t/>
            </a:r>
            <a:endParaRPr sz="11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Overall Goal</a:t>
            </a:r>
            <a:endParaRPr/>
          </a:p>
        </p:txBody>
      </p:sp>
      <p:sp>
        <p:nvSpPr>
          <p:cNvPr id="79" name="Google Shape;79;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Having fun helping people have fun helping people.</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